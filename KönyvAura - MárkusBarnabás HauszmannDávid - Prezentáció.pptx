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bold.fntdata"/><Relationship Id="rId10" Type="http://schemas.openxmlformats.org/officeDocument/2006/relationships/slide" Target="slides/slide6.xml"/><Relationship Id="rId21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b50bedbb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b50bedbb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736bfc001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736bfc00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736bfc001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736bfc00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736bfc00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736bfc0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36bfc001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736bfc001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c89b8029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c89b802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f43c88c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f43c88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42e6b66e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42e6b6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736bfc00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736bfc0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736bfc001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736bfc00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8f43c88c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8f43c88c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a0b260c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a0b260c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736bfc001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736bfc0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2E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rgbClr val="F8F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képen clipart, rajz, vázlat, illusztráció látható&#10;&#10;Lehet, hogy az AI által létrehozott tartalom helytelen." id="85" name="Google Shape;85;p13"/>
          <p:cNvPicPr preferRelativeResize="0"/>
          <p:nvPr/>
        </p:nvPicPr>
        <p:blipFill rotWithShape="1">
          <a:blip r:embed="rId3">
            <a:alphaModFix/>
          </a:blip>
          <a:srcRect b="10492" l="0" r="0" t="5238"/>
          <a:stretch/>
        </p:blipFill>
        <p:spPr>
          <a:xfrm>
            <a:off x="20" y="-22"/>
            <a:ext cx="12191977" cy="685802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 rot="-5400000">
            <a:off x="-1628999" y="1628979"/>
            <a:ext cx="6858000" cy="3600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2294373" y="5004700"/>
            <a:ext cx="7600200" cy="15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2B1B"/>
              </a:buClr>
              <a:buSzPts val="2400"/>
              <a:buNone/>
            </a:pPr>
            <a:r>
              <a:rPr lang="hu-HU" sz="2300">
                <a:solidFill>
                  <a:srgbClr val="422B1B"/>
                </a:solidFill>
              </a:rPr>
              <a:t>Created by: </a:t>
            </a:r>
            <a:r>
              <a:rPr lang="hu-HU" sz="2300">
                <a:solidFill>
                  <a:srgbClr val="422B1B"/>
                </a:solidFill>
              </a:rPr>
              <a:t>Márkus Barnabás, Hauszmann Dávid</a:t>
            </a:r>
            <a:endParaRPr sz="2300"/>
          </a:p>
        </p:txBody>
      </p:sp>
      <p:sp>
        <p:nvSpPr>
          <p:cNvPr id="88" name="Google Shape;88;p13"/>
          <p:cNvSpPr/>
          <p:nvPr/>
        </p:nvSpPr>
        <p:spPr>
          <a:xfrm rot="5400000">
            <a:off x="6963001" y="1628995"/>
            <a:ext cx="6858000" cy="3600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0" y="0"/>
            <a:ext cx="12192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The team: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0" y="1325700"/>
            <a:ext cx="5400000" cy="82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800">
                <a:solidFill>
                  <a:srgbClr val="3A2011"/>
                </a:solidFill>
              </a:rPr>
              <a:t>Hauszmann Dávid</a:t>
            </a:r>
            <a:endParaRPr/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0" y="2149500"/>
            <a:ext cx="54000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hu-HU">
                <a:solidFill>
                  <a:srgbClr val="3A2011"/>
                </a:solidFill>
              </a:rPr>
              <a:t>Frontend</a:t>
            </a:r>
            <a:endParaRPr>
              <a:solidFill>
                <a:srgbClr val="3A2011"/>
              </a:solidFill>
            </a:endParaRPr>
          </a:p>
          <a:p>
            <a:pPr indent="0" lvl="0" marL="2286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hu-HU">
                <a:solidFill>
                  <a:srgbClr val="3A2011"/>
                </a:solidFill>
              </a:rPr>
              <a:t>Design</a:t>
            </a:r>
            <a:endParaRPr/>
          </a:p>
        </p:txBody>
      </p:sp>
      <p:sp>
        <p:nvSpPr>
          <p:cNvPr id="96" name="Google Shape;96;p14"/>
          <p:cNvSpPr txBox="1"/>
          <p:nvPr>
            <p:ph idx="3" type="body"/>
          </p:nvPr>
        </p:nvSpPr>
        <p:spPr>
          <a:xfrm>
            <a:off x="6792000" y="1325700"/>
            <a:ext cx="5400000" cy="82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lang="hu-HU" sz="2800">
                <a:solidFill>
                  <a:srgbClr val="3A2011"/>
                </a:solidFill>
              </a:rPr>
              <a:t>Márkus Barnabás</a:t>
            </a:r>
            <a:endParaRPr sz="2800"/>
          </a:p>
        </p:txBody>
      </p:sp>
      <p:sp>
        <p:nvSpPr>
          <p:cNvPr id="97" name="Google Shape;97;p14"/>
          <p:cNvSpPr txBox="1"/>
          <p:nvPr>
            <p:ph idx="4" type="body"/>
          </p:nvPr>
        </p:nvSpPr>
        <p:spPr>
          <a:xfrm>
            <a:off x="6792000" y="2149500"/>
            <a:ext cx="54000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hu-HU">
                <a:solidFill>
                  <a:srgbClr val="3A2011"/>
                </a:solidFill>
              </a:rPr>
              <a:t>Backend</a:t>
            </a:r>
            <a:endParaRPr>
              <a:solidFill>
                <a:srgbClr val="3A2011"/>
              </a:solidFill>
            </a:endParaRPr>
          </a:p>
          <a:p>
            <a:pPr indent="0" lvl="0" marL="2286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hu-HU">
                <a:solidFill>
                  <a:srgbClr val="3A2011"/>
                </a:solidFill>
              </a:rPr>
              <a:t>Database</a:t>
            </a:r>
            <a:endParaRPr/>
          </a:p>
          <a:p>
            <a:pPr indent="0" lvl="0" marL="2286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hu-HU">
                <a:solidFill>
                  <a:srgbClr val="3A2011"/>
                </a:solidFill>
              </a:rPr>
              <a:t>Project Manager</a:t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437" y="3637312"/>
            <a:ext cx="2089135" cy="313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424" y="3637301"/>
            <a:ext cx="2089143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2011"/>
              </a:buClr>
              <a:buSzPts val="4400"/>
              <a:buFont typeface="Play"/>
              <a:buNone/>
            </a:pPr>
            <a:r>
              <a:rPr b="1" lang="hu-HU">
                <a:solidFill>
                  <a:srgbClr val="3A2011"/>
                </a:solidFill>
              </a:rPr>
              <a:t>Project Plan: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3A2011"/>
              </a:buClr>
              <a:buSzPts val="1800"/>
              <a:buChar char="●"/>
            </a:pPr>
            <a:r>
              <a:rPr lang="hu-HU">
                <a:solidFill>
                  <a:srgbClr val="3A2011"/>
                </a:solidFill>
              </a:rPr>
              <a:t>Simple and fast book purchasing</a:t>
            </a:r>
            <a:endParaRPr>
              <a:solidFill>
                <a:srgbClr val="3A201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A2011"/>
              </a:buClr>
              <a:buSzPts val="1800"/>
              <a:buChar char="●"/>
            </a:pPr>
            <a:r>
              <a:rPr lang="hu-HU">
                <a:solidFill>
                  <a:srgbClr val="3A2011"/>
                </a:solidFill>
              </a:rPr>
              <a:t>Clear interface</a:t>
            </a:r>
            <a:endParaRPr>
              <a:solidFill>
                <a:srgbClr val="3A201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A2011"/>
              </a:buClr>
              <a:buSzPts val="1800"/>
              <a:buChar char="●"/>
            </a:pPr>
            <a:r>
              <a:rPr lang="hu-HU">
                <a:solidFill>
                  <a:srgbClr val="3A2011"/>
                </a:solidFill>
              </a:rPr>
              <a:t>Modern, digital solution</a:t>
            </a:r>
            <a:endParaRPr>
              <a:solidFill>
                <a:srgbClr val="3A201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2011"/>
              </a:buClr>
              <a:buSzPts val="4400"/>
              <a:buFont typeface="Play"/>
              <a:buNone/>
            </a:pPr>
            <a:r>
              <a:rPr b="1" lang="hu-HU">
                <a:solidFill>
                  <a:srgbClr val="3A2011"/>
                </a:solidFill>
              </a:rPr>
              <a:t>Functional design plan</a:t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25" y="2113325"/>
            <a:ext cx="3567625" cy="36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900" y="2113325"/>
            <a:ext cx="3549850" cy="363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3300" y="2126097"/>
            <a:ext cx="3549850" cy="360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600" y="3403575"/>
            <a:ext cx="5086799" cy="28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2324" y="401863"/>
            <a:ext cx="49053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2250" y="404638"/>
            <a:ext cx="4905375" cy="274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A2011"/>
              </a:buClr>
              <a:buSzPts val="4400"/>
              <a:buFont typeface="Play"/>
              <a:buNone/>
            </a:pPr>
            <a:r>
              <a:rPr b="1" lang="hu-HU">
                <a:solidFill>
                  <a:srgbClr val="3A2011"/>
                </a:solidFill>
              </a:rPr>
              <a:t>Final design plan</a:t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2517" l="3256" r="3190" t="3911"/>
          <a:stretch/>
        </p:blipFill>
        <p:spPr>
          <a:xfrm>
            <a:off x="698713" y="2339075"/>
            <a:ext cx="3251211" cy="32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 rotWithShape="1">
          <a:blip r:embed="rId4">
            <a:alphaModFix/>
          </a:blip>
          <a:srcRect b="1690" l="2002" r="2231" t="3389"/>
          <a:stretch/>
        </p:blipFill>
        <p:spPr>
          <a:xfrm>
            <a:off x="8347700" y="2339075"/>
            <a:ext cx="3232884" cy="32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 rotWithShape="1">
          <a:blip r:embed="rId5">
            <a:alphaModFix/>
          </a:blip>
          <a:srcRect b="2285" l="912" r="1059" t="4046"/>
          <a:stretch/>
        </p:blipFill>
        <p:spPr>
          <a:xfrm>
            <a:off x="4297587" y="2339063"/>
            <a:ext cx="3702475" cy="32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3">
            <a:alphaModFix/>
          </a:blip>
          <a:srcRect b="2266" l="651" r="779" t="5999"/>
          <a:stretch/>
        </p:blipFill>
        <p:spPr>
          <a:xfrm>
            <a:off x="777150" y="487596"/>
            <a:ext cx="5045450" cy="2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4">
            <a:alphaModFix/>
          </a:blip>
          <a:srcRect b="6025" l="1257" r="1267" t="5110"/>
          <a:stretch/>
        </p:blipFill>
        <p:spPr>
          <a:xfrm>
            <a:off x="6174650" y="526875"/>
            <a:ext cx="5045451" cy="27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3225" y="3605900"/>
            <a:ext cx="4863776" cy="272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Phone design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50" y="1458700"/>
            <a:ext cx="1640100" cy="5255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1900" y="1450949"/>
            <a:ext cx="1640100" cy="527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30500" y="1036350"/>
            <a:ext cx="1786975" cy="567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Frontend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00" y="1344475"/>
            <a:ext cx="2951601" cy="295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400" y="3828088"/>
            <a:ext cx="2787950" cy="2951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049" y="1344463"/>
            <a:ext cx="20002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3900" y="3828100"/>
            <a:ext cx="2951600" cy="29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4448476"/>
            <a:ext cx="2251300" cy="22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73181" y="1003925"/>
            <a:ext cx="2680620" cy="225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Test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63" y="1498750"/>
            <a:ext cx="10464674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Database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88" y="1690838"/>
            <a:ext cx="7851672" cy="486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0809" y="3695688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99522" y="1843225"/>
            <a:ext cx="1700063" cy="17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 rot="10800000">
            <a:off x="6725" y="-8050"/>
            <a:ext cx="12193200" cy="2394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-25" y="1817675"/>
            <a:ext cx="12192000" cy="5040300"/>
          </a:xfrm>
          <a:prstGeom prst="rect">
            <a:avLst/>
          </a:prstGeom>
          <a:solidFill>
            <a:srgbClr val="191A1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Backend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2951225"/>
            <a:ext cx="3906775" cy="39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 rotWithShape="1">
          <a:blip r:embed="rId4">
            <a:alphaModFix/>
          </a:blip>
          <a:srcRect b="30216" l="0" r="0" t="28546"/>
          <a:stretch/>
        </p:blipFill>
        <p:spPr>
          <a:xfrm>
            <a:off x="4424688" y="3960232"/>
            <a:ext cx="3342623" cy="918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5200" y="2951225"/>
            <a:ext cx="3906775" cy="390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Other softwares used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3935363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738" y="1690825"/>
            <a:ext cx="3972525" cy="26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8425" y="3603525"/>
            <a:ext cx="3102075" cy="31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>
                <a:solidFill>
                  <a:srgbClr val="3A2011"/>
                </a:solidFill>
              </a:rPr>
              <a:t>Teamwork</a:t>
            </a:r>
            <a:endParaRPr b="1">
              <a:solidFill>
                <a:srgbClr val="3A2011"/>
              </a:solidFill>
            </a:endParaRPr>
          </a:p>
        </p:txBody>
      </p:sp>
      <p:pic>
        <p:nvPicPr>
          <p:cNvPr id="192" name="Google Shape;192;p26" title="Szerzett ponto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975" y="1825626"/>
            <a:ext cx="6879315" cy="425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2011"/>
              </a:buClr>
              <a:buSzPts val="4400"/>
              <a:buFont typeface="Play"/>
              <a:buNone/>
            </a:pPr>
            <a:r>
              <a:rPr b="1" lang="hu-HU">
                <a:solidFill>
                  <a:srgbClr val="3A2011"/>
                </a:solidFill>
              </a:rPr>
              <a:t>Plans for the future:</a:t>
            </a:r>
            <a:endParaRPr/>
          </a:p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hu-HU"/>
              <a:t>Credit card payment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-HU"/>
              <a:t>Preview of books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hu-HU"/>
              <a:t>Bonus system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745575" y="11449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6600">
                <a:solidFill>
                  <a:srgbClr val="3A2011"/>
                </a:solidFill>
              </a:rPr>
              <a:t>Thank you for your attention!</a:t>
            </a:r>
            <a:endParaRPr b="1" sz="6600">
              <a:solidFill>
                <a:srgbClr val="3A2011"/>
              </a:solidFill>
            </a:endParaRPr>
          </a:p>
        </p:txBody>
      </p:sp>
      <p:pic>
        <p:nvPicPr>
          <p:cNvPr descr="A képen clipart, rajz, vázlat, illusztráció látható&#10;&#10;Lehet, hogy az AI által létrehozott tartalom helytelen." id="204" name="Google Shape;204;p28"/>
          <p:cNvPicPr preferRelativeResize="0"/>
          <p:nvPr/>
        </p:nvPicPr>
        <p:blipFill rotWithShape="1">
          <a:blip r:embed="rId3">
            <a:alphaModFix/>
          </a:blip>
          <a:srcRect b="10491" l="0" r="0" t="5241"/>
          <a:stretch/>
        </p:blipFill>
        <p:spPr>
          <a:xfrm>
            <a:off x="3289174" y="3403150"/>
            <a:ext cx="5428401" cy="30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